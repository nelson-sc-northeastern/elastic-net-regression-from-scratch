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aleway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italic.fntdata"/><Relationship Id="rId22" Type="http://schemas.openxmlformats.org/officeDocument/2006/relationships/font" Target="fonts/Lato-regular.fntdata"/><Relationship Id="rId21" Type="http://schemas.openxmlformats.org/officeDocument/2006/relationships/font" Target="fonts/Raleway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La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aleway-bold.fntdata"/><Relationship Id="rId1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0d844a7c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0d844a7c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0d844a7c30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0d844a7c3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0d844a7c30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0d844a7c30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0d844a7c30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0d844a7c30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0d844a7c30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0d844a7c30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0d844a7c30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0d844a7c30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0d844a7c30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0d844a7c30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0d844a7c30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0d844a7c3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0d844a7c30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0d844a7c3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0d844a7c3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0d844a7c3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0d844a7c30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0d844a7c30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pmc.ncbi.nlm.nih.gov/articles/PMC2929880/" TargetMode="External"/><Relationship Id="rId4" Type="http://schemas.openxmlformats.org/officeDocument/2006/relationships/hyperlink" Target="https://scikit-learn.org/dev/modules/generated/sklearn.linear_model.ElasticNet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Elastic Net Regression</a:t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Scott Nelson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Elastic Net Regression</a:t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8615" y="2724275"/>
            <a:ext cx="5746772" cy="229984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91425" y="1889625"/>
            <a:ext cx="76347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-"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Combination of Ridge and Lasso Regression (a middle ground between both)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3400" y="2251400"/>
            <a:ext cx="4787725" cy="64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use Elastic Net</a:t>
            </a:r>
            <a:endParaRPr/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Handles multicollinearity very well, creating sparsity in </a:t>
            </a:r>
            <a:r>
              <a:rPr lang="en"/>
              <a:t>coefficient</a:t>
            </a:r>
            <a:r>
              <a:rPr lang="en"/>
              <a:t> and </a:t>
            </a:r>
            <a:r>
              <a:rPr lang="en"/>
              <a:t>stabilizing</a:t>
            </a:r>
            <a:r>
              <a:rPr lang="en"/>
              <a:t> </a:t>
            </a:r>
            <a:r>
              <a:rPr lang="en"/>
              <a:t>coefficients</a:t>
            </a:r>
            <a:r>
              <a:rPr lang="en"/>
              <a:t>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More flexible than Ridge and Lasso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Maintains the advantages of Ridge and Lasso Regression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P</a:t>
            </a:r>
            <a:r>
              <a:rPr lang="en"/>
              <a:t>enalty</a:t>
            </a:r>
            <a:r>
              <a:rPr lang="en"/>
              <a:t> terms for highly correlated features (Ridge)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Feature Selection (Lasso)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Fix penalties of Ridge and Lasso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Handles high dimensional data with few examples far better than Lasso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Handles feature selection of important features far better than Ridge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Main Con: More Hyper Parameters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Dataset: Housing Data</a:t>
            </a:r>
            <a:endParaRPr/>
          </a:p>
        </p:txBody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Housing Data from Kaggle Competition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Started with 36 numeric features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17 Categorical Features useless to model (yearbuilt, yeargaragebuilt, etc)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19 Numerical Features used to predict Sales Price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Best features:  Garage, 1st Floor Square Footage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Worst Features: Pool Area, Poarch Area</a:t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5350" y="3510922"/>
            <a:ext cx="2248934" cy="139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7"/>
          <p:cNvSpPr txBox="1"/>
          <p:nvPr/>
        </p:nvSpPr>
        <p:spPr>
          <a:xfrm>
            <a:off x="396450" y="3923275"/>
            <a:ext cx="9489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Pool Area: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5" name="Google Shape;11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2375" y="3544091"/>
            <a:ext cx="2248924" cy="133325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 txBox="1"/>
          <p:nvPr/>
        </p:nvSpPr>
        <p:spPr>
          <a:xfrm>
            <a:off x="3594275" y="4002375"/>
            <a:ext cx="16764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General Living Area</a:t>
            </a: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7" name="Google Shape;11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34925" y="886450"/>
            <a:ext cx="2799201" cy="139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559250" y="1238250"/>
            <a:ext cx="1855800" cy="13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Correlation Matrix</a:t>
            </a:r>
            <a:endParaRPr/>
          </a:p>
        </p:txBody>
      </p:sp>
      <p:pic>
        <p:nvPicPr>
          <p:cNvPr id="123" name="Google Shape;12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4200" y="887875"/>
            <a:ext cx="5396999" cy="422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Implementation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Elastic Net Implementation</a:t>
            </a:r>
            <a:endParaRPr/>
          </a:p>
        </p:txBody>
      </p:sp>
      <p:sp>
        <p:nvSpPr>
          <p:cNvPr id="134" name="Google Shape;134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Alpha: Weight controlling implementation of Ridge and Lasso terms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Mixing Parameter(λ): Ratio between Ridge and Lasso (1 = Lasso, 0 = Ridge)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Lambda_1 (Lasso): λ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Lambda_2 (Ridge): (1-λ)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Used same form as Sklearn to test numpy implementation </a:t>
            </a:r>
            <a:r>
              <a:rPr lang="en"/>
              <a:t>against</a:t>
            </a:r>
            <a:r>
              <a:rPr lang="en"/>
              <a:t> Sklearn’s implementation</a:t>
            </a:r>
            <a:endParaRPr/>
          </a:p>
        </p:txBody>
      </p:sp>
      <p:pic>
        <p:nvPicPr>
          <p:cNvPr id="135" name="Google Shape;13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6475" y="2614100"/>
            <a:ext cx="2704593" cy="53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 Technique</a:t>
            </a:r>
            <a:endParaRPr/>
          </a:p>
        </p:txBody>
      </p:sp>
      <p:sp>
        <p:nvSpPr>
          <p:cNvPr id="141" name="Google Shape;141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Gradient Descent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Used as discussed in class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MSE term, L1 term, and L2 Term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Faster convergence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Coordinate Descent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Loop through features and tune each parameter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Less computationally intense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Took </a:t>
            </a:r>
            <a:r>
              <a:rPr lang="en"/>
              <a:t>significantly</a:t>
            </a:r>
            <a:r>
              <a:rPr lang="en"/>
              <a:t> longer than gradient descent</a:t>
            </a:r>
            <a:endParaRPr/>
          </a:p>
        </p:txBody>
      </p:sp>
      <p:pic>
        <p:nvPicPr>
          <p:cNvPr id="142" name="Google Shape;14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3423" y="483000"/>
            <a:ext cx="1375801" cy="1474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9550" y="1921625"/>
            <a:ext cx="3041573" cy="3041573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1"/>
          <p:cNvSpPr txBox="1"/>
          <p:nvPr/>
        </p:nvSpPr>
        <p:spPr>
          <a:xfrm>
            <a:off x="5599550" y="982950"/>
            <a:ext cx="12201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Gradient Descent:</a:t>
            </a:r>
            <a:endParaRPr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5" name="Google Shape;145;p21"/>
          <p:cNvSpPr txBox="1"/>
          <p:nvPr/>
        </p:nvSpPr>
        <p:spPr>
          <a:xfrm>
            <a:off x="4718175" y="2762275"/>
            <a:ext cx="12201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Coordinate </a:t>
            </a:r>
            <a:r>
              <a:rPr lang="en" sz="9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Descent:</a:t>
            </a:r>
            <a:endParaRPr sz="9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Hyper Parameter Tuning</a:t>
            </a:r>
            <a:endParaRPr/>
          </a:p>
        </p:txBody>
      </p:sp>
      <p:sp>
        <p:nvSpPr>
          <p:cNvPr id="151" name="Google Shape;151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Rudimentary</a:t>
            </a:r>
            <a:r>
              <a:rPr lang="en"/>
              <a:t> Grid Search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Simplistic</a:t>
            </a:r>
            <a:r>
              <a:rPr lang="en"/>
              <a:t> method, systematic guess and check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Tested Alpha </a:t>
            </a:r>
            <a:r>
              <a:rPr lang="en"/>
              <a:t>values</a:t>
            </a:r>
            <a:r>
              <a:rPr lang="en"/>
              <a:t> from [0, 1]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Tested Mixing Parameter from [0, .9]</a:t>
            </a:r>
            <a:endParaRPr/>
          </a:p>
        </p:txBody>
      </p:sp>
      <p:pic>
        <p:nvPicPr>
          <p:cNvPr id="152" name="Google Shape;15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3051" y="2783525"/>
            <a:ext cx="4126648" cy="2004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sp>
        <p:nvSpPr>
          <p:cNvPr id="158" name="Google Shape;158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All three models converged to similar results, certain features were closer than others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Coordinate Descent had better error than Gradient Descent by ~10%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All models had an error of  ~$28000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Coordinate Descent, Sklearn, and Gradient Descent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Optimal hyperparameters found via grid search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Optimal Alpha: 0.</a:t>
            </a:r>
            <a:r>
              <a:rPr lang="en">
                <a:highlight>
                  <a:srgbClr val="FFFFFF"/>
                </a:highlight>
              </a:rPr>
              <a:t>23076923076923075</a:t>
            </a:r>
            <a:endParaRPr>
              <a:highlight>
                <a:srgbClr val="FFFFFF"/>
              </a:highlight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Optimal Mixing Ratio: </a:t>
            </a:r>
            <a:r>
              <a:rPr lang="en" sz="1050">
                <a:highlight>
                  <a:srgbClr val="FFFFFF"/>
                </a:highlight>
              </a:rPr>
              <a:t>0.8769230769230769</a:t>
            </a:r>
            <a:endParaRPr sz="1050">
              <a:highlight>
                <a:srgbClr val="FFFFFF"/>
              </a:highlight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/>
              <a:t>Model was biased towards Lasso Regression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64" name="Google Shape;164;p2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https://pmc.ncbi.nlm.nih.gov/articles/PMC2929880/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https://scikit-learn.org/dev/modules/generated/sklearn.linear_model.ElasticNet.html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